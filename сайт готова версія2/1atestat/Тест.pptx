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69" r:id="rId4"/>
    <p:sldId id="270" r:id="rId5"/>
    <p:sldId id="258" r:id="rId6"/>
    <p:sldId id="272" r:id="rId7"/>
    <p:sldId id="271" r:id="rId8"/>
    <p:sldId id="259" r:id="rId9"/>
    <p:sldId id="273" r:id="rId10"/>
    <p:sldId id="274" r:id="rId11"/>
    <p:sldId id="260" r:id="rId12"/>
    <p:sldId id="275" r:id="rId13"/>
    <p:sldId id="276" r:id="rId14"/>
    <p:sldId id="261" r:id="rId15"/>
    <p:sldId id="278" r:id="rId16"/>
    <p:sldId id="277" r:id="rId17"/>
    <p:sldId id="262" r:id="rId18"/>
    <p:sldId id="279" r:id="rId19"/>
    <p:sldId id="280" r:id="rId20"/>
    <p:sldId id="263" r:id="rId21"/>
    <p:sldId id="287" r:id="rId22"/>
    <p:sldId id="281" r:id="rId23"/>
    <p:sldId id="264" r:id="rId24"/>
    <p:sldId id="288" r:id="rId25"/>
    <p:sldId id="282" r:id="rId26"/>
    <p:sldId id="265" r:id="rId27"/>
    <p:sldId id="289" r:id="rId28"/>
    <p:sldId id="283" r:id="rId29"/>
    <p:sldId id="266" r:id="rId30"/>
    <p:sldId id="290" r:id="rId31"/>
    <p:sldId id="284" r:id="rId32"/>
    <p:sldId id="267" r:id="rId33"/>
    <p:sldId id="291" r:id="rId34"/>
    <p:sldId id="285" r:id="rId35"/>
    <p:sldId id="268" r:id="rId36"/>
    <p:sldId id="292" r:id="rId37"/>
    <p:sldId id="286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61" d="100"/>
          <a:sy n="161" d="100"/>
        </p:scale>
        <p:origin x="150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0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5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4BAE5-0C40-4CCE-9860-F55077798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4722" y="882376"/>
            <a:ext cx="9812218" cy="2926080"/>
          </a:xfrm>
        </p:spPr>
        <p:txBody>
          <a:bodyPr/>
          <a:lstStyle/>
          <a:p>
            <a:r>
              <a:rPr lang="ru-RU" b="1" dirty="0"/>
              <a:t>Тест: </a:t>
            </a:r>
            <a:r>
              <a:rPr lang="ru-RU" b="1" dirty="0" err="1"/>
              <a:t>Растрова</a:t>
            </a:r>
            <a:r>
              <a:rPr lang="ru-RU" b="1" dirty="0"/>
              <a:t> </a:t>
            </a:r>
            <a:r>
              <a:rPr lang="ru-RU" b="1" dirty="0" err="1"/>
              <a:t>графіка</a:t>
            </a:r>
            <a:endParaRPr lang="en-US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87A9EEF-1493-4F86-AB03-2D3FBA0258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72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uk-UA" dirty="0"/>
              <a:t>1. основний елемент растрового зображення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A) </a:t>
            </a:r>
            <a:r>
              <a:rPr lang="ru-RU" dirty="0"/>
              <a:t>Вектор</a:t>
            </a:r>
            <a:endParaRPr lang="en-US" dirty="0"/>
          </a:p>
        </p:txBody>
      </p:sp>
      <p:sp>
        <p:nvSpPr>
          <p:cNvPr id="8" name="Блок-схема: альтернативний процес 7">
            <a:hlinkClick r:id="rId3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B) </a:t>
            </a:r>
            <a:r>
              <a:rPr lang="ru-RU" dirty="0" err="1"/>
              <a:t>Піксель</a:t>
            </a:r>
            <a:endParaRPr lang="en-US" dirty="0"/>
          </a:p>
        </p:txBody>
      </p:sp>
      <p:sp>
        <p:nvSpPr>
          <p:cNvPr id="10" name="Блок-схема: альтернативний процес 9">
            <a:hlinkClick r:id="rId2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C) </a:t>
            </a:r>
            <a:r>
              <a:rPr lang="ru-RU" dirty="0" err="1"/>
              <a:t>Клітинка</a:t>
            </a:r>
            <a:endParaRPr lang="en-US" dirty="0"/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D) </a:t>
            </a:r>
            <a:r>
              <a:rPr lang="ru-RU" dirty="0"/>
              <a:t>Точка входу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0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3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097483" y="4611328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Не правильно</a:t>
            </a:r>
          </a:p>
          <a:p>
            <a:pPr algn="ctr"/>
            <a:r>
              <a:rPr lang="uk-UA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uk-UA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558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2. </a:t>
            </a:r>
            <a:r>
              <a:rPr lang="ru-RU" dirty="0" err="1"/>
              <a:t>Який</a:t>
            </a:r>
            <a:r>
              <a:rPr lang="ru-RU" dirty="0"/>
              <a:t> з </a:t>
            </a:r>
            <a:r>
              <a:rPr lang="ru-RU" dirty="0" err="1"/>
              <a:t>форматів</a:t>
            </a:r>
            <a:r>
              <a:rPr lang="ru-RU" dirty="0"/>
              <a:t> є </a:t>
            </a:r>
            <a:r>
              <a:rPr lang="ru-RU" dirty="0" err="1"/>
              <a:t>растровим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A) SVG</a:t>
            </a:r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B) EPS</a:t>
            </a:r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C) PNG</a:t>
            </a:r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D) PDF</a:t>
            </a:r>
          </a:p>
        </p:txBody>
      </p:sp>
    </p:spTree>
    <p:extLst>
      <p:ext uri="{BB962C8B-B14F-4D97-AF65-F5344CB8AC3E}">
        <p14:creationId xmlns:p14="http://schemas.microsoft.com/office/powerpoint/2010/main" val="428775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9797" y="1858488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0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3. Яка </a:t>
            </a:r>
            <a:r>
              <a:rPr lang="ru-RU" dirty="0" err="1"/>
              <a:t>головна</a:t>
            </a:r>
            <a:r>
              <a:rPr lang="ru-RU" dirty="0"/>
              <a:t> проблема при </a:t>
            </a:r>
            <a:r>
              <a:rPr lang="ru-RU" dirty="0" err="1"/>
              <a:t>збільшенні</a:t>
            </a:r>
            <a:r>
              <a:rPr lang="ru-RU" dirty="0"/>
              <a:t> растрового </a:t>
            </a:r>
            <a:r>
              <a:rPr lang="ru-RU" dirty="0" err="1"/>
              <a:t>зображення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A) </a:t>
            </a:r>
            <a:r>
              <a:rPr lang="ru-RU" dirty="0" err="1"/>
              <a:t>Втрата</a:t>
            </a:r>
            <a:r>
              <a:rPr lang="ru-RU" dirty="0"/>
              <a:t> </a:t>
            </a:r>
            <a:r>
              <a:rPr lang="ru-RU" dirty="0" err="1"/>
              <a:t>кольору</a:t>
            </a:r>
            <a:endParaRPr lang="en-US" dirty="0"/>
          </a:p>
        </p:txBody>
      </p:sp>
      <p:sp>
        <p:nvSpPr>
          <p:cNvPr id="8" name="Блок-схема: альтернативний процес 7">
            <a:hlinkClick r:id="rId3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B) </a:t>
            </a:r>
            <a:r>
              <a:rPr lang="ru-RU" dirty="0" err="1"/>
              <a:t>Розмиття</a:t>
            </a:r>
            <a:r>
              <a:rPr lang="ru-RU" dirty="0"/>
              <a:t> та </a:t>
            </a:r>
            <a:r>
              <a:rPr lang="ru-RU" dirty="0" err="1"/>
              <a:t>пікселізація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10" name="Блок-схема: альтернативний процес 9">
            <a:hlinkClick r:id="rId2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C) </a:t>
            </a:r>
            <a:r>
              <a:rPr lang="ru-RU" dirty="0" err="1"/>
              <a:t>Зміна</a:t>
            </a:r>
            <a:r>
              <a:rPr lang="ru-RU" dirty="0"/>
              <a:t> формату</a:t>
            </a:r>
            <a:endParaRPr lang="en-US" dirty="0"/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D) </a:t>
            </a:r>
            <a:r>
              <a:rPr lang="ru-RU" dirty="0" err="1"/>
              <a:t>Перевантаження</a:t>
            </a:r>
            <a:r>
              <a:rPr lang="ru-RU" dirty="0"/>
              <a:t> </a:t>
            </a:r>
            <a:r>
              <a:rPr lang="ru-RU" dirty="0" err="1"/>
              <a:t>пам’яті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59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64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060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4. Яке з </a:t>
            </a:r>
            <a:r>
              <a:rPr lang="ru-RU" dirty="0" err="1"/>
              <a:t>цих</a:t>
            </a:r>
            <a:r>
              <a:rPr lang="ru-RU" dirty="0"/>
              <a:t> ПЗ є </a:t>
            </a:r>
            <a:r>
              <a:rPr lang="ru-RU" dirty="0" err="1"/>
              <a:t>безкоштовним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A) Adobe Photoshop</a:t>
            </a:r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B) CorelDRAW</a:t>
            </a:r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C) GIMP </a:t>
            </a:r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D) Adobe Illustrator</a:t>
            </a:r>
          </a:p>
        </p:txBody>
      </p:sp>
    </p:spTree>
    <p:extLst>
      <p:ext uri="{BB962C8B-B14F-4D97-AF65-F5344CB8AC3E}">
        <p14:creationId xmlns:p14="http://schemas.microsoft.com/office/powerpoint/2010/main" val="2553985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11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976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>
            <a:normAutofit fontScale="90000"/>
          </a:bodyPr>
          <a:lstStyle/>
          <a:p>
            <a:r>
              <a:rPr lang="ru-RU" dirty="0"/>
              <a:t>5. Яка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</a:t>
            </a:r>
            <a:r>
              <a:rPr lang="ru-RU" dirty="0" err="1"/>
              <a:t>професіоналами</a:t>
            </a:r>
            <a:r>
              <a:rPr lang="ru-RU" dirty="0"/>
              <a:t> для </a:t>
            </a:r>
            <a:r>
              <a:rPr lang="ru-RU" dirty="0" err="1"/>
              <a:t>обробки</a:t>
            </a:r>
            <a:r>
              <a:rPr lang="ru-RU" dirty="0"/>
              <a:t> фото?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A) Paint.NET</a:t>
            </a:r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Krita</a:t>
            </a:r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C) Photoshop</a:t>
            </a:r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D) Inkscape</a:t>
            </a:r>
          </a:p>
        </p:txBody>
      </p:sp>
    </p:spTree>
    <p:extLst>
      <p:ext uri="{BB962C8B-B14F-4D97-AF65-F5344CB8AC3E}">
        <p14:creationId xmlns:p14="http://schemas.microsoft.com/office/powerpoint/2010/main" val="2530619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57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982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6. Для </a:t>
            </a:r>
            <a:r>
              <a:rPr lang="ru-RU" dirty="0" err="1"/>
              <a:t>чого</a:t>
            </a:r>
            <a:r>
              <a:rPr lang="ru-RU" dirty="0"/>
              <a:t> </a:t>
            </a:r>
            <a:r>
              <a:rPr lang="ru-RU" dirty="0" err="1"/>
              <a:t>призначена</a:t>
            </a:r>
            <a:r>
              <a:rPr lang="ru-RU" dirty="0"/>
              <a:t>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Krita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A) </a:t>
            </a:r>
            <a:r>
              <a:rPr lang="ru-RU"/>
              <a:t>Технічне креслення</a:t>
            </a:r>
            <a:endParaRPr lang="en-US"/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</a:t>
            </a:r>
            <a:r>
              <a:rPr lang="ru-RU"/>
              <a:t>Обробка відео</a:t>
            </a:r>
            <a:endParaRPr lang="en-US"/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C) </a:t>
            </a:r>
            <a:r>
              <a:rPr lang="ru-RU"/>
              <a:t>Цифрове малювання</a:t>
            </a:r>
            <a:endParaRPr lang="en-US"/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D) </a:t>
            </a:r>
            <a:r>
              <a:rPr lang="ru-RU"/>
              <a:t>Векторна графіка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94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1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071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7. </a:t>
            </a:r>
            <a:r>
              <a:rPr lang="ru-RU" dirty="0" err="1"/>
              <a:t>Який</a:t>
            </a:r>
            <a:r>
              <a:rPr lang="ru-RU" dirty="0"/>
              <a:t> з </a:t>
            </a:r>
            <a:r>
              <a:rPr lang="ru-RU" dirty="0" err="1"/>
              <a:t>наведених</a:t>
            </a:r>
            <a:r>
              <a:rPr lang="ru-RU" dirty="0"/>
              <a:t> </a:t>
            </a:r>
            <a:r>
              <a:rPr lang="ru-RU" dirty="0" err="1"/>
              <a:t>форматів</a:t>
            </a:r>
            <a:r>
              <a:rPr lang="ru-RU" dirty="0"/>
              <a:t> </a:t>
            </a:r>
            <a:r>
              <a:rPr lang="ru-RU" dirty="0" err="1"/>
              <a:t>підтримує</a:t>
            </a:r>
            <a:r>
              <a:rPr lang="ru-RU" dirty="0"/>
              <a:t> </a:t>
            </a:r>
            <a:r>
              <a:rPr lang="ru-RU" dirty="0" err="1"/>
              <a:t>прозорість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A) JPG</a:t>
            </a:r>
          </a:p>
        </p:txBody>
      </p:sp>
      <p:sp>
        <p:nvSpPr>
          <p:cNvPr id="8" name="Блок-схема: альтернативний процес 7">
            <a:hlinkClick r:id="rId3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PNG</a:t>
            </a:r>
          </a:p>
        </p:txBody>
      </p:sp>
      <p:sp>
        <p:nvSpPr>
          <p:cNvPr id="10" name="Блок-схема: альтернативний процес 9">
            <a:hlinkClick r:id="rId2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C) BMP</a:t>
            </a:r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D) TIF</a:t>
            </a:r>
          </a:p>
        </p:txBody>
      </p:sp>
    </p:spTree>
    <p:extLst>
      <p:ext uri="{BB962C8B-B14F-4D97-AF65-F5344CB8AC3E}">
        <p14:creationId xmlns:p14="http://schemas.microsoft.com/office/powerpoint/2010/main" val="2217924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895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8.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таке</a:t>
            </a:r>
            <a:r>
              <a:rPr lang="ru-RU" dirty="0"/>
              <a:t> </a:t>
            </a:r>
            <a:r>
              <a:rPr lang="ru-RU" dirty="0" err="1"/>
              <a:t>роздільна</a:t>
            </a:r>
            <a:r>
              <a:rPr lang="ru-RU" dirty="0"/>
              <a:t> </a:t>
            </a:r>
            <a:r>
              <a:rPr lang="ru-RU" dirty="0" err="1"/>
              <a:t>здатність</a:t>
            </a:r>
            <a:r>
              <a:rPr lang="ru-RU" dirty="0"/>
              <a:t> </a:t>
            </a:r>
            <a:r>
              <a:rPr lang="ru-RU" dirty="0" err="1"/>
              <a:t>зображення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A) </a:t>
            </a:r>
            <a:r>
              <a:rPr lang="ru-RU"/>
              <a:t>Кількість шарів</a:t>
            </a:r>
            <a:endParaRPr lang="en-US"/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</a:t>
            </a:r>
            <a:r>
              <a:rPr lang="ru-RU"/>
              <a:t>Якість друку</a:t>
            </a:r>
            <a:endParaRPr lang="en-US"/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C)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пікселів</a:t>
            </a:r>
            <a:r>
              <a:rPr lang="ru-RU" dirty="0"/>
              <a:t> на </a:t>
            </a:r>
            <a:r>
              <a:rPr lang="ru-RU" dirty="0" err="1"/>
              <a:t>одиницю</a:t>
            </a:r>
            <a:r>
              <a:rPr lang="ru-RU" dirty="0"/>
              <a:t> </a:t>
            </a:r>
            <a:r>
              <a:rPr lang="ru-RU" dirty="0" err="1"/>
              <a:t>довжини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D) </a:t>
            </a:r>
            <a:r>
              <a:rPr lang="ru-RU"/>
              <a:t>Глибина кольору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1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76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098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9. 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середовищі</a:t>
            </a:r>
            <a:r>
              <a:rPr lang="ru-RU" dirty="0"/>
              <a:t>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</a:t>
            </a:r>
            <a:r>
              <a:rPr lang="ru-RU" dirty="0" err="1"/>
              <a:t>растрову</a:t>
            </a:r>
            <a:r>
              <a:rPr lang="ru-RU" dirty="0"/>
              <a:t> </a:t>
            </a:r>
            <a:r>
              <a:rPr lang="ru-RU" dirty="0" err="1"/>
              <a:t>графіку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A) 3D-</a:t>
            </a:r>
            <a:r>
              <a:rPr lang="ru-RU"/>
              <a:t>моделювання</a:t>
            </a:r>
            <a:endParaRPr lang="en-US"/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</a:t>
            </a:r>
            <a:r>
              <a:rPr lang="ru-RU"/>
              <a:t>Анімація</a:t>
            </a:r>
            <a:endParaRPr lang="en-US"/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C) </a:t>
            </a:r>
            <a:r>
              <a:rPr lang="ru-RU"/>
              <a:t>Дизайн і фотографія</a:t>
            </a:r>
            <a:endParaRPr lang="en-US"/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D) </a:t>
            </a:r>
            <a:r>
              <a:rPr lang="ru-RU"/>
              <a:t>Створення логотипів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02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50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89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>
            <a:normAutofit fontScale="90000"/>
          </a:bodyPr>
          <a:lstStyle/>
          <a:p>
            <a:r>
              <a:rPr lang="ru-RU" dirty="0"/>
              <a:t>10. </a:t>
            </a:r>
            <a:r>
              <a:rPr lang="ru-RU" dirty="0" err="1"/>
              <a:t>Який</a:t>
            </a:r>
            <a:r>
              <a:rPr lang="ru-RU" dirty="0"/>
              <a:t> формат </a:t>
            </a:r>
            <a:r>
              <a:rPr lang="ru-RU" dirty="0" err="1"/>
              <a:t>найкраще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фотографій</a:t>
            </a:r>
            <a:r>
              <a:rPr lang="ru-RU" dirty="0"/>
              <a:t> у </a:t>
            </a:r>
            <a:r>
              <a:rPr lang="ru-RU" dirty="0" err="1"/>
              <a:t>високій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без </a:t>
            </a:r>
            <a:r>
              <a:rPr lang="ru-RU" dirty="0" err="1"/>
              <a:t>втрат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A) JPG</a:t>
            </a:r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PNG</a:t>
            </a:r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C) TIFF</a:t>
            </a:r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D) GIF</a:t>
            </a:r>
          </a:p>
        </p:txBody>
      </p:sp>
    </p:spTree>
    <p:extLst>
      <p:ext uri="{BB962C8B-B14F-4D97-AF65-F5344CB8AC3E}">
        <p14:creationId xmlns:p14="http://schemas.microsoft.com/office/powerpoint/2010/main" val="1489932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7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71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D) </a:t>
            </a:r>
            <a:r>
              <a:rPr lang="ru-RU"/>
              <a:t>Простота редагування</a:t>
            </a:r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11. </a:t>
            </a:r>
            <a:r>
              <a:rPr lang="ru-RU" dirty="0" err="1"/>
              <a:t>Що</a:t>
            </a:r>
            <a:r>
              <a:rPr lang="ru-RU" dirty="0"/>
              <a:t> НЕ є </a:t>
            </a:r>
            <a:r>
              <a:rPr lang="ru-RU" dirty="0" err="1"/>
              <a:t>перевагою</a:t>
            </a:r>
            <a:r>
              <a:rPr lang="ru-RU" dirty="0"/>
              <a:t> </a:t>
            </a:r>
            <a:r>
              <a:rPr lang="ru-RU" dirty="0" err="1"/>
              <a:t>растрової</a:t>
            </a:r>
            <a:r>
              <a:rPr lang="ru-RU" dirty="0"/>
              <a:t> </a:t>
            </a:r>
            <a:r>
              <a:rPr lang="ru-RU" dirty="0" err="1"/>
              <a:t>графіки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A) </a:t>
            </a:r>
            <a:r>
              <a:rPr lang="ru-RU"/>
              <a:t>Деталізація</a:t>
            </a:r>
            <a:endParaRPr lang="en-US"/>
          </a:p>
        </p:txBody>
      </p:sp>
      <p:sp>
        <p:nvSpPr>
          <p:cNvPr id="8" name="Блок-схема: альтернативний процес 7">
            <a:hlinkClick r:id="rId2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</a:t>
            </a:r>
            <a:r>
              <a:rPr lang="ru-RU"/>
              <a:t>Яскравість кольорів</a:t>
            </a:r>
            <a:endParaRPr lang="en-US"/>
          </a:p>
        </p:txBody>
      </p:sp>
      <p:sp>
        <p:nvSpPr>
          <p:cNvPr id="10" name="Блок-схема: альтернативний процес 9">
            <a:hlinkClick r:id="rId3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C) </a:t>
            </a:r>
            <a:r>
              <a:rPr lang="uk-UA" dirty="0"/>
              <a:t>Масштабованість без втрат </a:t>
            </a:r>
          </a:p>
        </p:txBody>
      </p:sp>
    </p:spTree>
    <p:extLst>
      <p:ext uri="{BB962C8B-B14F-4D97-AF65-F5344CB8AC3E}">
        <p14:creationId xmlns:p14="http://schemas.microsoft.com/office/powerpoint/2010/main" val="40237298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5064826" y="4725811"/>
            <a:ext cx="362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  <a:endParaRPr lang="en-US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5DFC5-2949-4A1D-B0B7-714098F2E800}"/>
              </a:ext>
            </a:extLst>
          </p:cNvPr>
          <p:cNvSpPr txBox="1"/>
          <p:nvPr/>
        </p:nvSpPr>
        <p:spPr>
          <a:xfrm>
            <a:off x="9846623" y="6008915"/>
            <a:ext cx="23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hlinkClick r:id="rId4" action="ppaction://hlinksldjump"/>
              </a:rPr>
              <a:t>Наступне питання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18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>
              <a:solidFill>
                <a:srgbClr val="704404"/>
              </a:solidFill>
              <a:hlinkClick r:id="rId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177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A1C9-3499-4760-8FE5-B2A48009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10465130" cy="1356360"/>
          </a:xfrm>
        </p:spPr>
        <p:txBody>
          <a:bodyPr/>
          <a:lstStyle/>
          <a:p>
            <a:r>
              <a:rPr lang="ru-RU" dirty="0"/>
              <a:t>12. Яке ПЗ </a:t>
            </a:r>
            <a:r>
              <a:rPr lang="ru-RU" dirty="0" err="1"/>
              <a:t>краще</a:t>
            </a:r>
            <a:r>
              <a:rPr lang="ru-RU" dirty="0"/>
              <a:t> обрати для </a:t>
            </a:r>
            <a:r>
              <a:rPr lang="ru-RU" dirty="0" err="1"/>
              <a:t>новачка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4" name="Блок-схема: альтернативний процес 3">
            <a:hlinkClick r:id="rId2" action="ppaction://hlinksldjump"/>
            <a:extLst>
              <a:ext uri="{FF2B5EF4-FFF2-40B4-BE49-F238E27FC236}">
                <a16:creationId xmlns:a16="http://schemas.microsoft.com/office/drawing/2014/main" id="{9D618B9C-00EA-4039-B095-ED22580559AA}"/>
              </a:ext>
            </a:extLst>
          </p:cNvPr>
          <p:cNvSpPr/>
          <p:nvPr/>
        </p:nvSpPr>
        <p:spPr>
          <a:xfrm>
            <a:off x="1143000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A) Photoshop</a:t>
            </a:r>
          </a:p>
        </p:txBody>
      </p:sp>
      <p:sp>
        <p:nvSpPr>
          <p:cNvPr id="8" name="Блок-схема: альтернативний процес 7">
            <a:hlinkClick r:id="rId3" action="ppaction://hlinksldjump"/>
            <a:extLst>
              <a:ext uri="{FF2B5EF4-FFF2-40B4-BE49-F238E27FC236}">
                <a16:creationId xmlns:a16="http://schemas.microsoft.com/office/drawing/2014/main" id="{88473EA7-B949-485E-A0D0-B372391E8B3E}"/>
              </a:ext>
            </a:extLst>
          </p:cNvPr>
          <p:cNvSpPr/>
          <p:nvPr/>
        </p:nvSpPr>
        <p:spPr>
          <a:xfrm>
            <a:off x="368827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B) GIMP</a:t>
            </a:r>
          </a:p>
        </p:txBody>
      </p:sp>
      <p:sp>
        <p:nvSpPr>
          <p:cNvPr id="10" name="Блок-схема: альтернативний процес 9">
            <a:hlinkClick r:id="rId2" action="ppaction://hlinksldjump"/>
            <a:extLst>
              <a:ext uri="{FF2B5EF4-FFF2-40B4-BE49-F238E27FC236}">
                <a16:creationId xmlns:a16="http://schemas.microsoft.com/office/drawing/2014/main" id="{F8B98A4B-D4C5-475E-B8BF-316C3822723A}"/>
              </a:ext>
            </a:extLst>
          </p:cNvPr>
          <p:cNvSpPr/>
          <p:nvPr/>
        </p:nvSpPr>
        <p:spPr>
          <a:xfrm>
            <a:off x="6233556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C) CorelDRAW</a:t>
            </a:r>
          </a:p>
        </p:txBody>
      </p:sp>
      <p:sp>
        <p:nvSpPr>
          <p:cNvPr id="11" name="Блок-схема: альтернативний процес 10">
            <a:hlinkClick r:id="rId2" action="ppaction://hlinksldjump"/>
            <a:extLst>
              <a:ext uri="{FF2B5EF4-FFF2-40B4-BE49-F238E27FC236}">
                <a16:creationId xmlns:a16="http://schemas.microsoft.com/office/drawing/2014/main" id="{B6002135-D32C-4B86-85CC-22BF0E858074}"/>
              </a:ext>
            </a:extLst>
          </p:cNvPr>
          <p:cNvSpPr/>
          <p:nvPr/>
        </p:nvSpPr>
        <p:spPr>
          <a:xfrm>
            <a:off x="8846128" y="2853047"/>
            <a:ext cx="2202872" cy="115190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D) Illustrator</a:t>
            </a:r>
          </a:p>
        </p:txBody>
      </p:sp>
    </p:spTree>
    <p:extLst>
      <p:ext uri="{BB962C8B-B14F-4D97-AF65-F5344CB8AC3E}">
        <p14:creationId xmlns:p14="http://schemas.microsoft.com/office/powerpoint/2010/main" val="1657350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ACF9A-F289-46D5-B516-43CA83538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404" b="90000" l="3375" r="97000">
                        <a14:foregroundMark x1="36688" y1="15596" x2="36688" y2="15596"/>
                        <a14:foregroundMark x1="48000" y1="6055" x2="48000" y2="6055"/>
                        <a14:foregroundMark x1="29438" y1="4587" x2="29438" y2="4587"/>
                        <a14:foregroundMark x1="30250" y1="4404" x2="30250" y2="4404"/>
                        <a14:foregroundMark x1="7187" y1="59725" x2="7187" y2="59725"/>
                        <a14:foregroundMark x1="3375" y1="64495" x2="3375" y2="64495"/>
                        <a14:foregroundMark x1="97000" y1="31651" x2="97000" y2="31651"/>
                        <a14:foregroundMark x1="51812" y1="24862" x2="51812" y2="24862"/>
                        <a14:foregroundMark x1="31750" y1="31101" x2="31750" y2="31101"/>
                        <a14:foregroundMark x1="32438" y1="29817" x2="32438" y2="29817"/>
                        <a14:foregroundMark x1="47188" y1="4404" x2="47188" y2="44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357" y="1947522"/>
            <a:ext cx="4349292" cy="296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5D7DF-B971-4216-9314-36BAAB3251FA}"/>
              </a:ext>
            </a:extLst>
          </p:cNvPr>
          <p:cNvSpPr txBox="1"/>
          <p:nvPr/>
        </p:nvSpPr>
        <p:spPr>
          <a:xfrm>
            <a:off x="4172197" y="4725811"/>
            <a:ext cx="403761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МОЛОДЕЦЬ!</a:t>
            </a:r>
          </a:p>
          <a:p>
            <a:pPr algn="ctr"/>
            <a:endParaRPr lang="uk-UA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pPr algn="ctr"/>
            <a:r>
              <a:rPr lang="uk-UA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Дякую за увагу</a:t>
            </a:r>
            <a:endParaRPr 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uk-UA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                   </a:t>
            </a:r>
            <a:endParaRPr lang="en-US" dirty="0">
              <a:latin typeface="Arial Black" panose="020B0A04020102020204" pitchFamily="34" charset="0"/>
              <a:ea typeface="Adobe Heiti Std R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9885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A30988-D302-439E-B07F-9D1D327EC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97" b="90981" l="3188" r="97625">
                        <a14:foregroundMark x1="39500" y1="4997" x2="39500" y2="4997"/>
                        <a14:foregroundMark x1="6500" y1="21633" x2="7062" y2="21816"/>
                        <a14:foregroundMark x1="3188" y1="37172" x2="3188" y2="37172"/>
                        <a14:foregroundMark x1="10000" y1="38269" x2="10000" y2="38269"/>
                        <a14:foregroundMark x1="22813" y1="37172" x2="22813" y2="37172"/>
                        <a14:foregroundMark x1="25000" y1="35954" x2="25000" y2="35954"/>
                        <a14:foregroundMark x1="25000" y1="35954" x2="25000" y2="35954"/>
                        <a14:foregroundMark x1="20438" y1="39122" x2="20438" y2="39122"/>
                        <a14:foregroundMark x1="20438" y1="39122" x2="20438" y2="39122"/>
                        <a14:foregroundMark x1="15687" y1="39122" x2="15687" y2="39122"/>
                        <a14:foregroundMark x1="15687" y1="39122" x2="15687" y2="39122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063" y1="37721" x2="13063" y2="37721"/>
                        <a14:foregroundMark x1="13813" y1="36441" x2="15500" y2="35954"/>
                        <a14:foregroundMark x1="13250" y1="35771" x2="18250" y2="35954"/>
                        <a14:foregroundMark x1="14938" y1="36624" x2="21313" y2="36624"/>
                        <a14:foregroundMark x1="15125" y1="36807" x2="25188" y2="37355"/>
                        <a14:foregroundMark x1="17875" y1="38452" x2="21875" y2="39488"/>
                        <a14:foregroundMark x1="20063" y1="40768" x2="13438" y2="41499"/>
                        <a14:foregroundMark x1="35813" y1="30225" x2="55313" y2="29311"/>
                        <a14:foregroundMark x1="55313" y1="29311" x2="42750" y2="39427"/>
                        <a14:foregroundMark x1="42750" y1="39427" x2="47375" y2="34308"/>
                        <a14:foregroundMark x1="53813" y1="37538" x2="51750" y2="40585"/>
                        <a14:foregroundMark x1="92125" y1="39001" x2="92125" y2="39001"/>
                        <a14:foregroundMark x1="95063" y1="40037" x2="95625" y2="40219"/>
                        <a14:foregroundMark x1="96500" y1="54357" x2="96688" y2="55088"/>
                        <a14:foregroundMark x1="97625" y1="65448" x2="97625" y2="65448"/>
                        <a14:foregroundMark x1="78375" y1="90981" x2="78375" y2="909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7610" y="1864426"/>
            <a:ext cx="3377925" cy="3464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C0A7C-EB84-42C2-BA04-D8817FC89D7E}"/>
              </a:ext>
            </a:extLst>
          </p:cNvPr>
          <p:cNvSpPr txBox="1"/>
          <p:nvPr/>
        </p:nvSpPr>
        <p:spPr>
          <a:xfrm>
            <a:off x="5168735" y="4682580"/>
            <a:ext cx="1854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dirty="0"/>
              <a:t>Не правильно</a:t>
            </a:r>
          </a:p>
          <a:p>
            <a:pPr algn="ctr"/>
            <a:endParaRPr lang="uk-UA" dirty="0"/>
          </a:p>
          <a:p>
            <a:pPr algn="ctr"/>
            <a:r>
              <a:rPr lang="uk-UA" dirty="0">
                <a:solidFill>
                  <a:srgbClr val="FF000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Спробуй ще раз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21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Основа">
  <a:themeElements>
    <a:clrScheme name="Пересічна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Глибина</Template>
  <TotalTime>232</TotalTime>
  <Words>401</Words>
  <Application>Microsoft Office PowerPoint</Application>
  <PresentationFormat>Широкий екран</PresentationFormat>
  <Paragraphs>123</Paragraphs>
  <Slides>37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37</vt:i4>
      </vt:variant>
    </vt:vector>
  </HeadingPairs>
  <TitlesOfParts>
    <vt:vector size="42" baseType="lpstr">
      <vt:lpstr>Adobe Heiti Std R</vt:lpstr>
      <vt:lpstr>Arial Unicode MS</vt:lpstr>
      <vt:lpstr>Arial Black</vt:lpstr>
      <vt:lpstr>Corbel</vt:lpstr>
      <vt:lpstr>Основа</vt:lpstr>
      <vt:lpstr>Тест: Растрова графіка</vt:lpstr>
      <vt:lpstr>1. основний елемент растрового зображення?</vt:lpstr>
      <vt:lpstr>Презентація PowerPoint</vt:lpstr>
      <vt:lpstr>Презентація PowerPoint</vt:lpstr>
      <vt:lpstr>2. Який з форматів є растровим?</vt:lpstr>
      <vt:lpstr>Презентація PowerPoint</vt:lpstr>
      <vt:lpstr>Презентація PowerPoint</vt:lpstr>
      <vt:lpstr>3. Яка головна проблема при збільшенні растрового зображення?</vt:lpstr>
      <vt:lpstr>Презентація PowerPoint</vt:lpstr>
      <vt:lpstr>Презентація PowerPoint</vt:lpstr>
      <vt:lpstr>4. Яке з цих ПЗ є безкоштовним?</vt:lpstr>
      <vt:lpstr>Презентація PowerPoint</vt:lpstr>
      <vt:lpstr>Презентація PowerPoint</vt:lpstr>
      <vt:lpstr>5. Яка програма найчастіше використовується професіоналами для обробки фото?</vt:lpstr>
      <vt:lpstr>Презентація PowerPoint</vt:lpstr>
      <vt:lpstr>Презентація PowerPoint</vt:lpstr>
      <vt:lpstr>6. Для чого призначена програма Krita?</vt:lpstr>
      <vt:lpstr>Презентація PowerPoint</vt:lpstr>
      <vt:lpstr>Презентація PowerPoint</vt:lpstr>
      <vt:lpstr>7. Який з наведених форматів підтримує прозорість?</vt:lpstr>
      <vt:lpstr>Презентація PowerPoint</vt:lpstr>
      <vt:lpstr>Презентація PowerPoint</vt:lpstr>
      <vt:lpstr>8. Що таке роздільна здатність зображення?</vt:lpstr>
      <vt:lpstr>Презентація PowerPoint</vt:lpstr>
      <vt:lpstr>Презентація PowerPoint</vt:lpstr>
      <vt:lpstr>9. У якому середовищі найчастіше використовують растрову графіку?</vt:lpstr>
      <vt:lpstr>Презентація PowerPoint</vt:lpstr>
      <vt:lpstr>Презентація PowerPoint</vt:lpstr>
      <vt:lpstr>10. Який формат найкраще підходить для зберігання фотографій у високій якості без втрат?</vt:lpstr>
      <vt:lpstr>Презентація PowerPoint</vt:lpstr>
      <vt:lpstr>Презентація PowerPoint</vt:lpstr>
      <vt:lpstr>11. Що НЕ є перевагою растрової графіки?</vt:lpstr>
      <vt:lpstr>Презентація PowerPoint</vt:lpstr>
      <vt:lpstr>Презентація PowerPoint</vt:lpstr>
      <vt:lpstr>12. Яке ПЗ краще обрати для новачка?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Тест: Растрова графіка</dc:title>
  <dc:creator>STUDENT</dc:creator>
  <cp:lastModifiedBy>STUDENT</cp:lastModifiedBy>
  <cp:revision>16</cp:revision>
  <dcterms:created xsi:type="dcterms:W3CDTF">2025-05-14T06:53:36Z</dcterms:created>
  <dcterms:modified xsi:type="dcterms:W3CDTF">2025-05-14T10:52:15Z</dcterms:modified>
</cp:coreProperties>
</file>